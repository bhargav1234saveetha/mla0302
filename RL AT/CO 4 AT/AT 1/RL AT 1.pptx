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5486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14253F"/>
                </a:solidFill>
                <a:latin typeface="Aptos"/>
              </a:rPr>
              <a:t>ADVANCED POLICY
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214884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F69B4"/>
                </a:solidFill>
                <a:latin typeface="Aptos"/>
              </a:rPr>
              <a:t>Techniques in Deep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670048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06C7B"/>
                </a:solidFill>
                <a:latin typeface="Aptos"/>
              </a:rPr>
              <a:t>PPO  •  TRPO  •  DDPG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337560"/>
            <a:ext cx="5212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303D"/>
                </a:solidFill>
                <a:latin typeface="Aptos"/>
              </a:rPr>
              <a:t>From policy improvement → stable learning → practical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051560"/>
            <a:ext cx="1874519" cy="1051560"/>
          </a:xfrm>
          <a:prstGeom prst="roundRect">
            <a:avLst/>
          </a:prstGeom>
          <a:solidFill>
            <a:srgbClr val="E8F1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362456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F69B4"/>
                </a:solidFill>
                <a:latin typeface="Aptos"/>
              </a:rPr>
              <a:t>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051560"/>
            <a:ext cx="1874519" cy="1051560"/>
          </a:xfrm>
          <a:prstGeom prst="roundRect">
            <a:avLst/>
          </a:prstGeom>
          <a:solidFill>
            <a:srgbClr val="E8F7E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362456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D9152"/>
                </a:solidFill>
                <a:latin typeface="Aptos"/>
              </a:rPr>
              <a:t>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880360"/>
            <a:ext cx="1874519" cy="1051560"/>
          </a:xfrm>
          <a:prstGeom prst="roundRect">
            <a:avLst/>
          </a:prstGeom>
          <a:solidFill>
            <a:srgbClr val="F1EB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3191256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4CAA"/>
                </a:solidFill>
                <a:latin typeface="Aptos"/>
              </a:rPr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880360"/>
            <a:ext cx="1874519" cy="1051560"/>
          </a:xfrm>
          <a:prstGeom prst="roundRect">
            <a:avLst/>
          </a:prstGeom>
          <a:solidFill>
            <a:srgbClr val="FBF1E4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3191256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08431"/>
                </a:solidFill>
                <a:latin typeface="Aptos"/>
              </a:rPr>
              <a:t>REWARD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00600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53F"/>
                </a:solidFill>
                <a:latin typeface="Aptos"/>
              </a:rPr>
              <a:t>Goal: better decisions with controlled policy updates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53F"/>
                </a:solidFill>
                <a:latin typeface="Aptos"/>
              </a:rPr>
              <a:t>1. Why Policy Optimization?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06C7B"/>
                </a:solidFill>
                <a:latin typeface="Aptos"/>
              </a:rPr>
              <a:t>The problem behind the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60120" cy="54864"/>
          </a:xfrm>
          <a:prstGeom prst="rect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3246120"/>
          </a:xfrm>
          <a:prstGeom prst="roundRect">
            <a:avLst/>
          </a:prstGeom>
          <a:solidFill>
            <a:srgbClr val="E8F1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3246120"/>
          </a:xfrm>
          <a:prstGeom prst="rect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55063"/>
            <a:ext cx="2926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4253F"/>
                </a:solidFill>
                <a:latin typeface="Aptos"/>
              </a:rPr>
              <a:t>Old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926079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303D"/>
                </a:solidFill>
                <a:latin typeface="Aptos"/>
              </a:rPr>
              <a:t>The agent already has a policy that works reasonably well.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3246120"/>
          </a:xfrm>
          <a:prstGeom prst="roundRect">
            <a:avLst/>
          </a:prstGeom>
          <a:solidFill>
            <a:srgbClr val="FBF1E4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73152" cy="3246120"/>
          </a:xfrm>
          <a:prstGeom prst="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655063"/>
            <a:ext cx="2926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4253F"/>
                </a:solidFill>
                <a:latin typeface="Aptos"/>
              </a:rPr>
              <a:t>Huge Update 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75688"/>
            <a:ext cx="2926079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303D"/>
                </a:solidFill>
                <a:latin typeface="Aptos"/>
              </a:rPr>
              <a:t>A very large policy change can make the agent behave worse.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08760"/>
            <a:ext cx="3337560" cy="3246120"/>
          </a:xfrm>
          <a:prstGeom prst="roundRect">
            <a:avLst/>
          </a:prstGeom>
          <a:solidFill>
            <a:srgbClr val="E8F7E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508760"/>
            <a:ext cx="73152" cy="324612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655063"/>
            <a:ext cx="2926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4253F"/>
                </a:solidFill>
                <a:latin typeface="Aptos"/>
              </a:rPr>
              <a:t>Controlled Update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75688"/>
            <a:ext cx="2926079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303D"/>
                </a:solidFill>
                <a:latin typeface="Aptos"/>
              </a:rPr>
              <a:t>Small, safe improvements keep learning stable.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69B4"/>
                </a:solidFill>
                <a:latin typeface="Aptos"/>
              </a:rPr>
              <a:t>CORE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38928"/>
            <a:ext cx="8961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253F"/>
                </a:solidFill>
                <a:latin typeface="Aptos"/>
              </a:rPr>
              <a:t>Improve the policy — but keep the update under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53F"/>
                </a:solidFill>
                <a:latin typeface="Aptos"/>
              </a:rPr>
              <a:t>2. PPO — Proximal Policy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06C7B"/>
                </a:solidFill>
                <a:latin typeface="Aptos"/>
              </a:rPr>
              <a:t>Simple, stable and practical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60120" cy="54864"/>
          </a:xfrm>
          <a:prstGeom prst="rect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983480" cy="4114800"/>
          </a:xfrm>
          <a:prstGeom prst="roundRect">
            <a:avLst/>
          </a:prstGeom>
          <a:solidFill>
            <a:srgbClr val="E8F7E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11480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253F"/>
                </a:solidFill>
                <a:latin typeface="Aptos"/>
              </a:rPr>
              <a:t>How PPO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4572000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6303D"/>
                </a:solidFill>
                <a:latin typeface="Aptos"/>
              </a:rPr>
              <a:t>1. Observe the state
2. Choose an action
3. Receive a reward
4. Update the policy
5. Limit the size of the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53F"/>
                </a:solidFill>
                <a:latin typeface="Aptos"/>
              </a:rPr>
              <a:t>POLICY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920240"/>
            <a:ext cx="3840480" cy="749808"/>
          </a:xfrm>
          <a:prstGeom prst="roundRect">
            <a:avLst/>
          </a:prstGeom>
          <a:solidFill>
            <a:srgbClr val="E8F1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011680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F69B4"/>
                </a:solidFill>
                <a:latin typeface="Aptos"/>
              </a:rPr>
              <a:t>OLD 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944368"/>
            <a:ext cx="3840480" cy="749808"/>
          </a:xfrm>
          <a:prstGeom prst="roundRect">
            <a:avLst/>
          </a:prstGeom>
          <a:solidFill>
            <a:srgbClr val="E8F7E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3035808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D9152"/>
                </a:solidFill>
                <a:latin typeface="Aptos"/>
              </a:rPr>
              <a:t>CONTROLLED
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968496"/>
            <a:ext cx="3840480" cy="749808"/>
          </a:xfrm>
          <a:prstGeom prst="roundRect">
            <a:avLst/>
          </a:prstGeom>
          <a:solidFill>
            <a:srgbClr val="F1EB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059935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4CAA"/>
                </a:solidFill>
                <a:latin typeface="Aptos"/>
              </a:rPr>
              <a:t>NEW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5118854"/>
            <a:ext cx="4846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14253F"/>
                </a:solidFill>
                <a:latin typeface="Aptos"/>
              </a:rPr>
              <a:t>Remember: PPO = “</a:t>
            </a:r>
            <a:r>
              <a:rPr lang="en-IN" sz="1800" b="1" dirty="0">
                <a:solidFill>
                  <a:srgbClr val="14253F"/>
                </a:solidFill>
                <a:latin typeface="Aptos"/>
              </a:rPr>
              <a:t>step by step change</a:t>
            </a:r>
            <a:r>
              <a:rPr sz="1800" b="1" dirty="0">
                <a:solidFill>
                  <a:srgbClr val="14253F"/>
                </a:solidFill>
                <a:latin typeface="Aptos"/>
              </a:rPr>
              <a:t>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53F"/>
                </a:solidFill>
                <a:latin typeface="Aptos"/>
              </a:rPr>
              <a:t>3. TRPO — Trust Region Policy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4520"/>
            <a:ext cx="10972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400" dirty="0"/>
              <a:t>Designed for stable policy improvement.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2893" y="1124881"/>
            <a:ext cx="960120" cy="54864"/>
          </a:xfrm>
          <a:prstGeom prst="rect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53F"/>
                </a:solidFill>
                <a:latin typeface="Aptos"/>
              </a:rPr>
              <a:t>SAFE REGION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828800"/>
            <a:ext cx="3246120" cy="3246120"/>
          </a:xfrm>
          <a:prstGeom prst="ellipse">
            <a:avLst/>
          </a:prstGeom>
          <a:solidFill>
            <a:srgbClr val="E8F1FC"/>
          </a:solidFill>
          <a:ln w="3810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2743200"/>
            <a:ext cx="2331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F69B4"/>
                </a:solidFill>
                <a:latin typeface="Aptos"/>
              </a:rPr>
              <a:t>Allowed
Policy
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E08431"/>
                </a:solidFill>
                <a:latin typeface="Aptos"/>
              </a:rPr>
              <a:t>Outside = too risky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508760"/>
            <a:ext cx="6355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92040" y="1508760"/>
            <a:ext cx="73152" cy="1234440"/>
          </a:xfrm>
          <a:prstGeom prst="rect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1655063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ptos"/>
              </a:rPr>
              <a:t>Trust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057619"/>
            <a:ext cx="59436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dirty="0"/>
              <a:t>TRPO follows a similar idea to PPO, but it uses a concept called a trust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926080"/>
            <a:ext cx="6355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92040" y="2926080"/>
            <a:ext cx="73152" cy="123444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3072384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ptos"/>
              </a:rPr>
              <a:t>Strength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493008"/>
            <a:ext cx="5943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26303D"/>
                </a:solidFill>
                <a:latin typeface="Aptos"/>
              </a:rPr>
              <a:t>Very stable and reliable policy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343400"/>
            <a:ext cx="6355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92040" y="4343400"/>
            <a:ext cx="73152" cy="1234440"/>
          </a:xfrm>
          <a:prstGeom prst="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4489704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ptos"/>
              </a:rPr>
              <a:t>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015371"/>
            <a:ext cx="5943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dirty="0"/>
              <a:t>Update the policy only within a safe region.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5689015"/>
            <a:ext cx="61722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dirty="0"/>
              <a:t>The new policy is allowed to change, but only within this safe region.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53F"/>
                </a:solidFill>
                <a:latin typeface="Aptos"/>
              </a:rPr>
              <a:t>4. DDPG — Deep Deterministic Policy Gradient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06C7B"/>
                </a:solidFill>
                <a:latin typeface="Aptos"/>
              </a:rPr>
              <a:t>Actor-Critic for continuous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60120" cy="54864"/>
          </a:xfrm>
          <a:prstGeom prst="rect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600200" cy="960120"/>
          </a:xfrm>
          <a:prstGeom prst="roundRect">
            <a:avLst/>
          </a:prstGeom>
          <a:solidFill>
            <a:srgbClr val="E8F1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F69B4"/>
                </a:solidFill>
                <a:latin typeface="Aptos"/>
              </a:rPr>
              <a:t>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874519"/>
            <a:ext cx="1600200" cy="960120"/>
          </a:xfrm>
          <a:prstGeom prst="roundRect">
            <a:avLst/>
          </a:prstGeom>
          <a:solidFill>
            <a:srgbClr val="E8F7E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084831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D9152"/>
                </a:solidFill>
                <a:latin typeface="Aptos"/>
              </a:rPr>
              <a:t>ACTOR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874519"/>
            <a:ext cx="1965960" cy="960120"/>
          </a:xfrm>
          <a:prstGeom prst="roundRect">
            <a:avLst/>
          </a:prstGeom>
          <a:solidFill>
            <a:srgbClr val="F1EB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2084831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54CAA"/>
                </a:solidFill>
                <a:latin typeface="Aptos"/>
              </a:rPr>
              <a:t>CONTINUOUS
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874519"/>
            <a:ext cx="1965960" cy="960120"/>
          </a:xfrm>
          <a:prstGeom prst="roundRect">
            <a:avLst/>
          </a:prstGeom>
          <a:solidFill>
            <a:srgbClr val="FBF1E4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2084831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08431"/>
                </a:solidFill>
                <a:latin typeface="Aptos"/>
              </a:rPr>
              <a:t>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874519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2084831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53F"/>
                </a:solidFill>
                <a:latin typeface="Aptos"/>
              </a:rPr>
              <a:t>CRITIC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29000"/>
            <a:ext cx="3383280" cy="1508760"/>
          </a:xfrm>
          <a:prstGeom prst="roundRect">
            <a:avLst/>
          </a:prstGeom>
          <a:solidFill>
            <a:srgbClr val="F1EB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73152" cy="1508760"/>
          </a:xfrm>
          <a:prstGeom prst="rect">
            <a:avLst/>
          </a:prstGeom>
          <a:solidFill>
            <a:srgbClr val="75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575304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ptos"/>
              </a:rPr>
              <a:t>Why DDPG?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95928"/>
            <a:ext cx="297180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6303D"/>
                </a:solidFill>
                <a:latin typeface="Aptos"/>
              </a:rPr>
              <a:t>Mainly useful when actions are continuous — e.g., steering, motor control or robot joint movement.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429000"/>
            <a:ext cx="3383280" cy="1508760"/>
          </a:xfrm>
          <a:prstGeom prst="roundRect">
            <a:avLst/>
          </a:prstGeom>
          <a:solidFill>
            <a:srgbClr val="E8F7E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3429000"/>
            <a:ext cx="73152" cy="150876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3575304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ptos"/>
              </a:rPr>
              <a:t>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995928"/>
            <a:ext cx="297180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6303D"/>
                </a:solidFill>
                <a:latin typeface="Aptos"/>
              </a:rPr>
              <a:t>Chooses the continuous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429000"/>
            <a:ext cx="3383280" cy="1508760"/>
          </a:xfrm>
          <a:prstGeom prst="roundRect">
            <a:avLst/>
          </a:prstGeom>
          <a:solidFill>
            <a:srgbClr val="E8F1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440" y="3429000"/>
            <a:ext cx="73152" cy="1508760"/>
          </a:xfrm>
          <a:prstGeom prst="rect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575304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53F"/>
                </a:solidFill>
                <a:latin typeface="Aptos"/>
              </a:rPr>
              <a:t>Critic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95928"/>
            <a:ext cx="297180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6303D"/>
                </a:solidFill>
                <a:latin typeface="Aptos"/>
              </a:rPr>
              <a:t>Evaluates how good the chosen action 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486400"/>
            <a:ext cx="6766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253F"/>
                </a:solidFill>
                <a:latin typeface="Aptos"/>
              </a:rPr>
              <a:t>Remember: DDPG = “Continuous actions.”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53F"/>
                </a:solidFill>
                <a:latin typeface="Aptos"/>
              </a:rPr>
              <a:t>5. Comparison + Practical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06C7B"/>
                </a:solidFill>
                <a:latin typeface="Aptos"/>
              </a:rPr>
              <a:t>The slide to explain on the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60120" cy="54864"/>
          </a:xfrm>
          <a:prstGeom prst="rect">
            <a:avLst/>
          </a:prstGeom>
          <a:solidFill>
            <a:srgbClr val="2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240280" cy="566928"/>
          </a:xfrm>
          <a:prstGeom prst="rect">
            <a:avLst/>
          </a:prstGeom>
          <a:solidFill>
            <a:srgbClr val="14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240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2240280" cy="566928"/>
          </a:xfrm>
          <a:prstGeom prst="rect">
            <a:avLst/>
          </a:prstGeom>
          <a:solidFill>
            <a:srgbClr val="2D91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508760"/>
            <a:ext cx="2240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PPO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417320"/>
            <a:ext cx="2240280" cy="566928"/>
          </a:xfrm>
          <a:prstGeom prst="rect">
            <a:avLst/>
          </a:prstGeom>
          <a:solidFill>
            <a:srgbClr val="2F69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508760"/>
            <a:ext cx="2240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417320"/>
            <a:ext cx="4160520" cy="566928"/>
          </a:xfrm>
          <a:prstGeom prst="rect">
            <a:avLst/>
          </a:prstGeom>
          <a:solidFill>
            <a:srgbClr val="754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508760"/>
            <a:ext cx="4160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DDPG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984248"/>
            <a:ext cx="2240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" y="2057400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4253F"/>
                </a:solidFill>
                <a:latin typeface="Aptos"/>
              </a:rPr>
              <a:t>Main idea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984248"/>
            <a:ext cx="2240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62656" y="2057400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Limits policy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1984248"/>
            <a:ext cx="2240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02936" y="2057400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Safe trust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984248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43215" y="2057400"/>
            <a:ext cx="40873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Continuous Actor-Critic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51176"/>
            <a:ext cx="224028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" y="2624328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4253F"/>
                </a:solidFill>
                <a:latin typeface="Aptos"/>
              </a:rPr>
              <a:t>Stability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551176"/>
            <a:ext cx="224028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62656" y="2624328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2551176"/>
            <a:ext cx="224028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02936" y="2624328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Very 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551176"/>
            <a:ext cx="416052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43215" y="2624328"/>
            <a:ext cx="40873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Moderate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118104"/>
            <a:ext cx="2240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" y="3191256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4253F"/>
                </a:solidFill>
                <a:latin typeface="Aptos"/>
              </a:rPr>
              <a:t>Complexity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3118104"/>
            <a:ext cx="2240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62656" y="3191256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3118104"/>
            <a:ext cx="2240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02936" y="3191256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118104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43215" y="3191256"/>
            <a:ext cx="40873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Medium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685031"/>
            <a:ext cx="224028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" y="3758183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4253F"/>
                </a:solidFill>
                <a:latin typeface="Aptos"/>
              </a:rPr>
              <a:t>Best use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685031"/>
            <a:ext cx="224028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62656" y="3758183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General RL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6360" y="3685031"/>
            <a:ext cx="224028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02936" y="3758183"/>
            <a:ext cx="21671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Stable learning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685031"/>
            <a:ext cx="416052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43215" y="3758183"/>
            <a:ext cx="40873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0">
                <a:solidFill>
                  <a:srgbClr val="26303D"/>
                </a:solidFill>
                <a:latin typeface="Aptos"/>
              </a:rPr>
              <a:t>Continuous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4348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69B4"/>
                </a:solidFill>
                <a:latin typeface="Aptos"/>
              </a:rPr>
              <a:t>PRACTICAL DEMO: PPO + CARTPOLE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892040"/>
            <a:ext cx="1417320" cy="658368"/>
          </a:xfrm>
          <a:prstGeom prst="roundRect">
            <a:avLst/>
          </a:prstGeom>
          <a:solidFill>
            <a:srgbClr val="E8F1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047488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Aptos"/>
              </a:rPr>
              <a:t>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23160" y="4892040"/>
            <a:ext cx="1417320" cy="658368"/>
          </a:xfrm>
          <a:prstGeom prst="roundRect">
            <a:avLst/>
          </a:prstGeom>
          <a:solidFill>
            <a:srgbClr val="E8F7E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23160" y="5047488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Aptos"/>
              </a:rPr>
              <a:t>PPO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60520" y="4892040"/>
            <a:ext cx="1417320" cy="658368"/>
          </a:xfrm>
          <a:prstGeom prst="roundRect">
            <a:avLst/>
          </a:prstGeom>
          <a:solidFill>
            <a:srgbClr val="E8F1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60520" y="5047488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Aptos"/>
              </a:rPr>
              <a:t>Action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97879" y="4892040"/>
            <a:ext cx="1417320" cy="658368"/>
          </a:xfrm>
          <a:prstGeom prst="roundRect">
            <a:avLst/>
          </a:prstGeom>
          <a:solidFill>
            <a:srgbClr val="E8F7E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97879" y="5047488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Aptos"/>
              </a:rPr>
              <a:t>Reward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35240" y="4892040"/>
            <a:ext cx="1417320" cy="658368"/>
          </a:xfrm>
          <a:prstGeom prst="roundRect">
            <a:avLst/>
          </a:prstGeom>
          <a:solidFill>
            <a:srgbClr val="E8F1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35240" y="5047488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Aptos"/>
              </a:rPr>
              <a:t>Update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742432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53F"/>
                </a:solidFill>
                <a:latin typeface="Aptos"/>
              </a:rPr>
              <a:t>Expected result: reward generally improves as the policy gets better.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374</Words>
  <Application>Microsoft Office PowerPoint</Application>
  <PresentationFormat>Widescreen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Bhargav Chinthala</dc:creator>
  <cp:keywords/>
  <dc:description>generated using python-pptx</dc:description>
  <cp:lastModifiedBy>Bhargav Chinthala</cp:lastModifiedBy>
  <cp:revision>2</cp:revision>
  <dcterms:created xsi:type="dcterms:W3CDTF">2013-01-27T09:14:16Z</dcterms:created>
  <dcterms:modified xsi:type="dcterms:W3CDTF">2026-08-19T18:08:28Z</dcterms:modified>
  <cp:category/>
</cp:coreProperties>
</file>